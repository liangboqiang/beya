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867" r:id="rId2"/>
    <p:sldId id="941" r:id="rId3"/>
    <p:sldId id="954" r:id="rId4"/>
    <p:sldId id="955" r:id="rId5"/>
    <p:sldId id="956" r:id="rId6"/>
    <p:sldId id="957" r:id="rId7"/>
    <p:sldId id="958" r:id="rId8"/>
    <p:sldId id="873" r:id="rId9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 " lastIdx="3" clrIdx="0"/>
  <p:cmAuthor id="2" name="86131" initials="8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A7F9"/>
    <a:srgbClr val="E7EEF8"/>
    <a:srgbClr val="021F5B"/>
    <a:srgbClr val="0177D9"/>
    <a:srgbClr val="E4F0FF"/>
    <a:srgbClr val="3483FF"/>
    <a:srgbClr val="33BAFF"/>
    <a:srgbClr val="2E72F7"/>
    <a:srgbClr val="265DF5"/>
    <a:srgbClr val="065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35"/>
  </p:normalViewPr>
  <p:slideViewPr>
    <p:cSldViewPr snapToGrid="0" showGuides="1">
      <p:cViewPr varScale="1">
        <p:scale>
          <a:sx n="79" d="100"/>
          <a:sy n="79" d="100"/>
        </p:scale>
        <p:origin x="372" y="57"/>
      </p:cViewPr>
      <p:guideLst>
        <p:guide orient="horz" pos="219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cs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黑体 CN Normal" panose="020B0400000000000000" charset="-122"/>
              </a:rPr>
              <a:t>2025/11/20</a:t>
            </a:fld>
            <a:endParaRPr lang="zh-CN" altLang="en-US" dirty="0">
              <a:cs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cs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黑体 CN Normal" panose="020B0400000000000000" charset="-122"/>
              </a:rPr>
              <a:t>‹#›</a:t>
            </a:fld>
            <a:endParaRPr lang="zh-CN" altLang="en-US" dirty="0">
              <a:cs typeface="思源黑体 CN Normal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2025/11/20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封面版式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293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封面版式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rcRect l="57150" t="100000" r="29963" b="-482"/>
          <a:stretch>
            <a:fillRect/>
          </a:stretch>
        </p:blipFill>
        <p:spPr>
          <a:xfrm>
            <a:off x="9229227" y="6849110"/>
            <a:ext cx="1569583" cy="330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72" h="52">
                <a:moveTo>
                  <a:pt x="0" y="0"/>
                </a:moveTo>
                <a:lnTo>
                  <a:pt x="36" y="52"/>
                </a:lnTo>
                <a:lnTo>
                  <a:pt x="2472" y="52"/>
                </a:lnTo>
                <a:lnTo>
                  <a:pt x="243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3" descr="手机屏幕截图&#10;&#10;低可信度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47" y="226800"/>
            <a:ext cx="1545152" cy="3168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电脑显示屏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2286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@</a:t>
            </a:r>
            <a:r>
              <a:rPr lang="zh-CN" altLang="en-US" dirty="0"/>
              <a:t>广西星网智云科技有限公司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页脚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0" y="2243982"/>
            <a:ext cx="12192000" cy="85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 userDrawn="1"/>
        </p:nvSpPr>
        <p:spPr>
          <a:xfrm>
            <a:off x="0" y="0"/>
            <a:ext cx="12192000" cy="2243982"/>
          </a:xfrm>
          <a:prstGeom prst="rect">
            <a:avLst/>
          </a:prstGeom>
          <a:gradFill>
            <a:gsLst>
              <a:gs pos="0">
                <a:schemeClr val="accent1">
                  <a:alpha val="68435"/>
                  <a:lumMod val="6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0" name="文本框 109"/>
          <p:cNvSpPr txBox="1"/>
          <p:nvPr userDrawn="1"/>
        </p:nvSpPr>
        <p:spPr>
          <a:xfrm>
            <a:off x="4969873" y="420200"/>
            <a:ext cx="2252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i="0" dirty="0">
                <a:solidFill>
                  <a:schemeClr val="bg1"/>
                </a:solidFill>
                <a:latin typeface="+mj-ea"/>
                <a:ea typeface="+mj-ea"/>
              </a:rPr>
              <a:t>目 录</a:t>
            </a:r>
          </a:p>
        </p:txBody>
      </p:sp>
      <p:sp>
        <p:nvSpPr>
          <p:cNvPr id="111" name="文本框 110"/>
          <p:cNvSpPr txBox="1"/>
          <p:nvPr userDrawn="1"/>
        </p:nvSpPr>
        <p:spPr>
          <a:xfrm>
            <a:off x="4491099" y="1362117"/>
            <a:ext cx="3209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2400" b="1" i="0" dirty="0">
                <a:solidFill>
                  <a:schemeClr val="bg1"/>
                </a:solidFill>
                <a:latin typeface="HELVETICA BOLD OBLIQUE" pitchFamily="2" charset="0"/>
                <a:ea typeface="AliHYAiHei" pitchFamily="18" charset="-122"/>
              </a:rPr>
              <a:t>CONTENTS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śľïďê"/>
          <p:cNvSpPr/>
          <p:nvPr userDrawn="1"/>
        </p:nvSpPr>
        <p:spPr>
          <a:xfrm flipH="1">
            <a:off x="0" y="1"/>
            <a:ext cx="3837214" cy="6858000"/>
          </a:xfrm>
          <a:prstGeom prst="rect">
            <a:avLst/>
          </a:prstGeom>
          <a:gradFill flip="none" rotWithShape="1">
            <a:gsLst>
              <a:gs pos="53000">
                <a:srgbClr val="2E72F7"/>
              </a:gs>
              <a:gs pos="0">
                <a:srgbClr val="265DF5"/>
              </a:gs>
              <a:gs pos="100000">
                <a:srgbClr val="3FA7F9"/>
              </a:gs>
            </a:gsLst>
            <a:lin ang="10800000" scaled="0"/>
            <a:tileRect/>
          </a:gradFill>
          <a:ln>
            <a:noFill/>
          </a:ln>
          <a:effectLst>
            <a:outerShdw blurRad="475300" dist="54096" dir="3480000" algn="tl" rotWithShape="0">
              <a:srgbClr val="021F5B">
                <a:alpha val="23034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02449" y="4054910"/>
            <a:ext cx="4616450" cy="1972286"/>
          </a:xfrm>
        </p:spPr>
        <p:txBody>
          <a:bodyPr>
            <a:normAutofit/>
          </a:bodyPr>
          <a:lstStyle>
            <a:lvl1pPr marL="0" indent="0" algn="r">
              <a:buNone/>
              <a:defRPr lang="en-US" altLang="zh-CN" sz="2000" b="0" i="0" kern="1200" spc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单击此处生成标题附加信息展示</a:t>
            </a:r>
            <a:endParaRPr lang="en-US" altLang="zh-CN" dirty="0"/>
          </a:p>
        </p:txBody>
      </p:sp>
      <p:sp>
        <p:nvSpPr>
          <p:cNvPr id="16" name="标题 9"/>
          <p:cNvSpPr>
            <a:spLocks noGrp="1"/>
          </p:cNvSpPr>
          <p:nvPr>
            <p:ph type="title" hasCustomPrompt="1"/>
          </p:nvPr>
        </p:nvSpPr>
        <p:spPr>
          <a:xfrm>
            <a:off x="6902449" y="3278321"/>
            <a:ext cx="4616449" cy="705600"/>
          </a:xfrm>
        </p:spPr>
        <p:txBody>
          <a:bodyPr>
            <a:normAutofit/>
          </a:bodyPr>
          <a:lstStyle>
            <a:lvl1pPr algn="r">
              <a:defRPr sz="3200" spc="0">
                <a:solidFill>
                  <a:srgbClr val="021F5B"/>
                </a:solidFill>
              </a:defRPr>
            </a:lvl1pPr>
          </a:lstStyle>
          <a:p>
            <a:r>
              <a:rPr kumimoji="1" lang="en-US" altLang="zh-CN" dirty="0"/>
              <a:t>01</a:t>
            </a:r>
            <a:r>
              <a:rPr kumimoji="1" lang="zh-CN" altLang="en-US" dirty="0"/>
              <a:t>章节标题</a:t>
            </a:r>
            <a:r>
              <a:rPr kumimoji="1" lang="en-US" altLang="zh-CN" dirty="0"/>
              <a:t>32px</a:t>
            </a:r>
            <a:endParaRPr kumimoji="1" lang="zh-CN" altLang="en-US" dirty="0"/>
          </a:p>
        </p:txBody>
      </p:sp>
      <p:pic>
        <p:nvPicPr>
          <p:cNvPr id="21" name="图片 20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47" y="226800"/>
            <a:ext cx="1545152" cy="316801"/>
          </a:xfrm>
          <a:prstGeom prst="rect">
            <a:avLst/>
          </a:prstGeom>
        </p:spPr>
      </p:pic>
      <p:sp>
        <p:nvSpPr>
          <p:cNvPr id="27" name="图片占位符 26"/>
          <p:cNvSpPr>
            <a:spLocks noGrp="1"/>
          </p:cNvSpPr>
          <p:nvPr>
            <p:ph type="pic" sz="quarter" idx="17" hasCustomPrompt="1"/>
          </p:nvPr>
        </p:nvSpPr>
        <p:spPr>
          <a:xfrm>
            <a:off x="673099" y="1015206"/>
            <a:ext cx="5556250" cy="4999038"/>
          </a:xfrm>
        </p:spPr>
        <p:txBody>
          <a:bodyPr/>
          <a:lstStyle/>
          <a:p>
            <a:r>
              <a:rPr kumimoji="1" lang="zh-CN" altLang="en-US" dirty="0"/>
              <a:t>点击添加相关图片</a:t>
            </a:r>
          </a:p>
        </p:txBody>
      </p:sp>
      <p:sp>
        <p:nvSpPr>
          <p:cNvPr id="4" name="iśľïďê"/>
          <p:cNvSpPr/>
          <p:nvPr userDrawn="1"/>
        </p:nvSpPr>
        <p:spPr>
          <a:xfrm flipH="1">
            <a:off x="11949190" y="0"/>
            <a:ext cx="242810" cy="747736"/>
          </a:xfrm>
          <a:prstGeom prst="rect">
            <a:avLst/>
          </a:prstGeom>
          <a:gradFill flip="none" rotWithShape="1">
            <a:gsLst>
              <a:gs pos="53000">
                <a:srgbClr val="2E72F7"/>
              </a:gs>
              <a:gs pos="0">
                <a:srgbClr val="265DF5"/>
              </a:gs>
              <a:gs pos="100000">
                <a:srgbClr val="3FA7F9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47" y="226800"/>
            <a:ext cx="1545152" cy="316801"/>
          </a:xfrm>
          <a:prstGeom prst="rect">
            <a:avLst/>
          </a:prstGeom>
        </p:spPr>
      </p:pic>
      <p:sp>
        <p:nvSpPr>
          <p:cNvPr id="17" name="iṥ1iḋe"/>
          <p:cNvSpPr/>
          <p:nvPr userDrawn="1"/>
        </p:nvSpPr>
        <p:spPr>
          <a:xfrm rot="5400000">
            <a:off x="6031557" y="-4782456"/>
            <a:ext cx="50735" cy="11014453"/>
          </a:xfrm>
          <a:prstGeom prst="rect">
            <a:avLst/>
          </a:prstGeom>
          <a:gradFill flip="none" rotWithShape="1">
            <a:gsLst>
              <a:gs pos="53000">
                <a:srgbClr val="0652BE"/>
              </a:gs>
              <a:gs pos="0">
                <a:srgbClr val="015ACD">
                  <a:shade val="67500"/>
                  <a:satMod val="115000"/>
                </a:srgbClr>
              </a:gs>
              <a:gs pos="100000">
                <a:srgbClr val="097CEA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8" name="标题 17"/>
          <p:cNvSpPr>
            <a:spLocks noGrp="1"/>
          </p:cNvSpPr>
          <p:nvPr>
            <p:ph type="title" hasCustomPrompt="1"/>
          </p:nvPr>
        </p:nvSpPr>
        <p:spPr>
          <a:xfrm>
            <a:off x="549699" y="75722"/>
            <a:ext cx="6343469" cy="629878"/>
          </a:xfrm>
        </p:spPr>
        <p:txBody>
          <a:bodyPr>
            <a:normAutofit/>
          </a:bodyPr>
          <a:lstStyle>
            <a:lvl1pPr>
              <a:defRPr sz="2400" spc="0">
                <a:solidFill>
                  <a:srgbClr val="021F5B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1.</a:t>
            </a:r>
            <a:r>
              <a:rPr kumimoji="1" lang="zh-CN" altLang="en-US" dirty="0"/>
              <a:t>单击此处编辑标题（微软雅黑</a:t>
            </a:r>
            <a:r>
              <a:rPr kumimoji="1" lang="en-US" altLang="zh-CN" dirty="0"/>
              <a:t>24px</a:t>
            </a:r>
            <a:r>
              <a:rPr kumimoji="1" lang="zh-CN" altLang="en-US" dirty="0"/>
              <a:t>加粗）</a:t>
            </a:r>
          </a:p>
        </p:txBody>
      </p:sp>
      <p:sp>
        <p:nvSpPr>
          <p:cNvPr id="22" name="内容占位符 2"/>
          <p:cNvSpPr>
            <a:spLocks noGrp="1"/>
          </p:cNvSpPr>
          <p:nvPr>
            <p:ph idx="1" hasCustomPrompt="1"/>
          </p:nvPr>
        </p:nvSpPr>
        <p:spPr>
          <a:xfrm>
            <a:off x="549698" y="1007411"/>
            <a:ext cx="11014453" cy="5226908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r>
              <a:rPr lang="zh-CN" altLang="en-US" sz="2000" dirty="0"/>
              <a:t>一级标题</a:t>
            </a:r>
            <a:r>
              <a:rPr lang="ja-JP" altLang="en-US" sz="2000" dirty="0"/>
              <a:t> </a:t>
            </a:r>
            <a:r>
              <a:rPr lang="en-US" altLang="zh-CN" sz="2000" dirty="0"/>
              <a:t>-20pt</a:t>
            </a:r>
          </a:p>
          <a:p>
            <a:pPr lvl="1"/>
            <a:r>
              <a:rPr lang="zh-CN" altLang="en-US" sz="1800" dirty="0"/>
              <a:t>二级标题</a:t>
            </a:r>
            <a:r>
              <a:rPr lang="en-US" altLang="zh-CN" sz="1800" dirty="0"/>
              <a:t> -18pt</a:t>
            </a:r>
          </a:p>
          <a:p>
            <a:pPr lvl="2"/>
            <a:r>
              <a:rPr lang="zh-CN" altLang="en-US" sz="1600" dirty="0"/>
              <a:t>三级</a:t>
            </a:r>
            <a:r>
              <a:rPr lang="zh-CN" altLang="en-US" sz="100" dirty="0"/>
              <a:t> </a:t>
            </a:r>
            <a:r>
              <a:rPr lang="zh-CN" altLang="en-US" sz="1600" dirty="0"/>
              <a:t>标题</a:t>
            </a:r>
            <a:r>
              <a:rPr lang="en-US" altLang="zh-CN" sz="1600" dirty="0"/>
              <a:t> -16pt</a:t>
            </a:r>
          </a:p>
          <a:p>
            <a:pPr lvl="3"/>
            <a:r>
              <a:rPr lang="zh-CN" altLang="en-US" sz="1400" dirty="0"/>
              <a:t>四级标题</a:t>
            </a:r>
            <a:r>
              <a:rPr lang="en-US" altLang="zh-CN" sz="1400" dirty="0"/>
              <a:t> -14pt</a:t>
            </a:r>
          </a:p>
          <a:p>
            <a:pPr lvl="4"/>
            <a:r>
              <a:rPr lang="en-US" altLang="zh-CN" dirty="0"/>
              <a:t>…</a:t>
            </a:r>
          </a:p>
          <a:p>
            <a:pPr lvl="4"/>
            <a:r>
              <a:rPr lang="zh-CN" altLang="en-US" sz="1100" dirty="0"/>
              <a:t>正文</a:t>
            </a:r>
            <a:r>
              <a:rPr lang="en-US" altLang="zh-CN" sz="1100" dirty="0"/>
              <a:t> -11pt</a:t>
            </a:r>
            <a:endParaRPr lang="zh-CN" alt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47" y="226800"/>
            <a:ext cx="1545152" cy="316801"/>
          </a:xfrm>
          <a:prstGeom prst="rect">
            <a:avLst/>
          </a:prstGeom>
        </p:spPr>
      </p:pic>
      <p:sp>
        <p:nvSpPr>
          <p:cNvPr id="27" name="iṥ1iḋe"/>
          <p:cNvSpPr/>
          <p:nvPr userDrawn="1"/>
        </p:nvSpPr>
        <p:spPr>
          <a:xfrm rot="5400000">
            <a:off x="6031557" y="-4782456"/>
            <a:ext cx="50735" cy="11014453"/>
          </a:xfrm>
          <a:prstGeom prst="rect">
            <a:avLst/>
          </a:prstGeom>
          <a:gradFill flip="none" rotWithShape="1">
            <a:gsLst>
              <a:gs pos="53000">
                <a:srgbClr val="0652BE"/>
              </a:gs>
              <a:gs pos="0">
                <a:srgbClr val="015ACD">
                  <a:shade val="67500"/>
                  <a:satMod val="115000"/>
                </a:srgbClr>
              </a:gs>
              <a:gs pos="100000">
                <a:srgbClr val="097CEA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8" name="标题 17"/>
          <p:cNvSpPr>
            <a:spLocks noGrp="1"/>
          </p:cNvSpPr>
          <p:nvPr>
            <p:ph type="title" hasCustomPrompt="1"/>
          </p:nvPr>
        </p:nvSpPr>
        <p:spPr>
          <a:xfrm>
            <a:off x="549699" y="0"/>
            <a:ext cx="6114869" cy="705600"/>
          </a:xfrm>
        </p:spPr>
        <p:txBody>
          <a:bodyPr>
            <a:normAutofit/>
          </a:bodyPr>
          <a:lstStyle>
            <a:lvl1pPr>
              <a:defRPr sz="2400" b="1" i="0" spc="0">
                <a:solidFill>
                  <a:srgbClr val="021F5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1.</a:t>
            </a:r>
            <a:r>
              <a:rPr kumimoji="1" lang="zh-CN" altLang="en-US" dirty="0"/>
              <a:t>单击此处编辑标题（微软雅黑</a:t>
            </a:r>
            <a:r>
              <a:rPr kumimoji="1" lang="en-US" altLang="zh-CN" dirty="0"/>
              <a:t>24px</a:t>
            </a:r>
            <a:r>
              <a:rPr kumimoji="1" lang="zh-CN" altLang="en-US" dirty="0"/>
              <a:t>加粗）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5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5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水里的城市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524"/>
            <a:ext cx="12191999" cy="4092320"/>
          </a:xfrm>
          <a:prstGeom prst="rect">
            <a:avLst/>
          </a:prstGeom>
        </p:spPr>
      </p:pic>
      <p:pic>
        <p:nvPicPr>
          <p:cNvPr id="18" name="图片 17" descr="城市的夜景&#10;&#10;中度可信度描述已自动生成"/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4082300"/>
            <a:ext cx="12193252" cy="2775700"/>
          </a:xfrm>
          <a:prstGeom prst="rect">
            <a:avLst/>
          </a:prstGeom>
        </p:spPr>
      </p:pic>
      <p:sp>
        <p:nvSpPr>
          <p:cNvPr id="14" name="gaoding-8"/>
          <p:cNvSpPr/>
          <p:nvPr/>
        </p:nvSpPr>
        <p:spPr>
          <a:xfrm>
            <a:off x="0" y="4106256"/>
            <a:ext cx="12192000" cy="2741159"/>
          </a:xfrm>
          <a:prstGeom prst="rect">
            <a:avLst/>
          </a:prstGeom>
          <a:gradFill>
            <a:gsLst>
              <a:gs pos="0">
                <a:schemeClr val="bg1">
                  <a:alpha val="2043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M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627189" y="4335441"/>
            <a:ext cx="10225537" cy="705600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sz="4000" kern="1700" spc="120" dirty="0">
                <a:solidFill>
                  <a:srgbClr val="0177D9"/>
                </a:solidFill>
              </a:rPr>
              <a:t>模型参数化标准说明</a:t>
            </a:r>
            <a:endParaRPr kumimoji="1" lang="zh-CN" altLang="en-US" sz="4000" spc="0" dirty="0">
              <a:solidFill>
                <a:srgbClr val="0177D9"/>
              </a:solidFill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627190" y="5074279"/>
            <a:ext cx="3653262" cy="433133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kumimoji="1" lang="zh-CN" altLang="en-US" sz="2400" b="0" spc="0" dirty="0">
              <a:solidFill>
                <a:srgbClr val="021F5B"/>
              </a:solidFill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627190" y="5551357"/>
            <a:ext cx="3653262" cy="433133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en-US" altLang="zh-CN" sz="1800" b="0" spc="0" dirty="0">
                <a:solidFill>
                  <a:srgbClr val="021F5B"/>
                </a:solidFill>
              </a:rPr>
              <a:t>2025.11.12</a:t>
            </a:r>
            <a:endParaRPr kumimoji="1" lang="zh-CN" altLang="en-US" sz="1800" b="0" spc="0" dirty="0">
              <a:solidFill>
                <a:srgbClr val="021F5B"/>
              </a:solidFill>
            </a:endParaRPr>
          </a:p>
        </p:txBody>
      </p:sp>
      <p:sp>
        <p:nvSpPr>
          <p:cNvPr id="11" name="文本占位符 3"/>
          <p:cNvSpPr>
            <a:spLocks noGrp="1"/>
          </p:cNvSpPr>
          <p:nvPr/>
        </p:nvSpPr>
        <p:spPr>
          <a:xfrm>
            <a:off x="627189" y="6248888"/>
            <a:ext cx="6326269" cy="30382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zh-CN" alt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/>
            <a:r>
              <a:rPr lang="zh-CN" altLang="en-US" sz="1400" dirty="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广西星网智云科技有限公司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GB" altLang="zh-CN" sz="1400" dirty="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Guangxi SKY Cloud Technology Co.</a:t>
            </a:r>
            <a:r>
              <a:rPr lang="zh-CN" altLang="en-GB" sz="1400" dirty="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GB" altLang="zh-CN" sz="1400" dirty="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LTD</a:t>
            </a:r>
            <a:endParaRPr lang="zh-CN" altLang="en-US" sz="1400" dirty="0">
              <a:solidFill>
                <a:schemeClr val="tx1">
                  <a:lumMod val="50000"/>
                  <a:lumOff val="50000"/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iṥ1iḋe"/>
          <p:cNvSpPr/>
          <p:nvPr/>
        </p:nvSpPr>
        <p:spPr>
          <a:xfrm rot="5400000">
            <a:off x="6039582" y="-2065949"/>
            <a:ext cx="112833" cy="12192000"/>
          </a:xfrm>
          <a:prstGeom prst="rect">
            <a:avLst/>
          </a:prstGeom>
          <a:gradFill flip="none" rotWithShape="1">
            <a:gsLst>
              <a:gs pos="53000">
                <a:srgbClr val="0652BE"/>
              </a:gs>
              <a:gs pos="0">
                <a:srgbClr val="015ACD">
                  <a:shade val="67500"/>
                  <a:satMod val="115000"/>
                </a:srgbClr>
              </a:gs>
              <a:gs pos="100000">
                <a:srgbClr val="097CEA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" name="gaoding-3"/>
          <p:cNvSpPr/>
          <p:nvPr/>
        </p:nvSpPr>
        <p:spPr>
          <a:xfrm>
            <a:off x="0" y="4393"/>
            <a:ext cx="12192000" cy="4082300"/>
          </a:xfrm>
          <a:prstGeom prst="rect">
            <a:avLst/>
          </a:prstGeom>
          <a:solidFill>
            <a:schemeClr val="accent1">
              <a:lumMod val="75000"/>
              <a:alpha val="2923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10620" y="671181"/>
            <a:ext cx="5570756" cy="11784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500" b="1" spc="300" dirty="0">
                <a:ln w="15875">
                  <a:noFill/>
                </a:ln>
                <a:solidFill>
                  <a:srgbClr val="FFFFFF"/>
                </a:solidFill>
                <a:effectLst>
                  <a:outerShdw blurRad="768876" dist="193452" dir="6120000" sx="103000" sy="103000" algn="t" rotWithShape="0">
                    <a:prstClr val="black">
                      <a:alpha val="60304"/>
                    </a:prstClr>
                  </a:outerShdw>
                  <a:reflection blurRad="31385" stA="28469" endPos="40199" dist="254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星网智云</a:t>
            </a:r>
            <a:endParaRPr lang="en-US" altLang="zh-CN" sz="2500" b="1" spc="300" dirty="0">
              <a:ln w="15875">
                <a:noFill/>
              </a:ln>
              <a:solidFill>
                <a:srgbClr val="FFFFFF"/>
              </a:solidFill>
              <a:effectLst>
                <a:outerShdw blurRad="768876" dist="193452" dir="6120000" sx="103000" sy="103000" algn="t" rotWithShape="0">
                  <a:prstClr val="black">
                    <a:alpha val="60304"/>
                  </a:prstClr>
                </a:outerShdw>
                <a:reflection blurRad="31385" stA="28469" endPos="40199" dist="254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500" b="1" spc="300" dirty="0">
                <a:ln w="15875">
                  <a:noFill/>
                </a:ln>
                <a:solidFill>
                  <a:srgbClr val="FFFFFF"/>
                </a:solidFill>
                <a:effectLst>
                  <a:outerShdw blurRad="768876" dist="193452" dir="6120000" sx="103000" sy="103000" algn="t" rotWithShape="0">
                    <a:prstClr val="black">
                      <a:alpha val="60304"/>
                    </a:prstClr>
                  </a:outerShdw>
                  <a:reflection blurRad="31385" stA="28469" endPos="40199" dist="254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让人们享受智能化带来的美好生活</a:t>
            </a:r>
          </a:p>
        </p:txBody>
      </p:sp>
      <p:pic>
        <p:nvPicPr>
          <p:cNvPr id="19" name="图片 18" descr="文本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47" y="6083998"/>
            <a:ext cx="1545152" cy="316801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7789545" y="5278755"/>
            <a:ext cx="4227195" cy="488950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sz="2000" kern="1700" spc="120" dirty="0">
                <a:solidFill>
                  <a:srgbClr val="0177D9"/>
                </a:solidFill>
              </a:rPr>
              <a:t>零部件设计智能体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2EB5-1C2A-826D-372A-3A11C559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D82BDD1A-D562-5101-3B1B-EDE2675CF85E}"/>
              </a:ext>
            </a:extLst>
          </p:cNvPr>
          <p:cNvSpPr>
            <a:spLocks noGrp="1"/>
          </p:cNvSpPr>
          <p:nvPr/>
        </p:nvSpPr>
        <p:spPr>
          <a:xfrm>
            <a:off x="549909" y="1105702"/>
            <a:ext cx="5712868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1.1</a:t>
            </a:r>
            <a:r>
              <a:rPr lang="zh-CN" altLang="en-US" dirty="0"/>
              <a:t>、表达式分类和定义规则</a:t>
            </a:r>
            <a:endParaRPr lang="zh-CN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D7FB8A70-EAAD-5F6B-BD3E-9C1CBC043C12}"/>
              </a:ext>
            </a:extLst>
          </p:cNvPr>
          <p:cNvSpPr>
            <a:spLocks noGrp="1"/>
          </p:cNvSpPr>
          <p:nvPr/>
        </p:nvSpPr>
        <p:spPr>
          <a:xfrm>
            <a:off x="549909" y="75565"/>
            <a:ext cx="3723917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 fontScale="92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一、表达式分类和定义规则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FCE9DCB-0D3E-744C-7AFB-2D09D95CA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004150"/>
              </p:ext>
            </p:extLst>
          </p:nvPr>
        </p:nvGraphicFramePr>
        <p:xfrm>
          <a:off x="1040053" y="1602331"/>
          <a:ext cx="10317784" cy="5101540"/>
        </p:xfrm>
        <a:graphic>
          <a:graphicData uri="http://schemas.openxmlformats.org/drawingml/2006/table">
            <a:tbl>
              <a:tblPr/>
              <a:tblGrid>
                <a:gridCol w="1149095">
                  <a:extLst>
                    <a:ext uri="{9D8B030D-6E8A-4147-A177-3AD203B41FA5}">
                      <a16:colId xmlns:a16="http://schemas.microsoft.com/office/drawing/2014/main" val="1847096019"/>
                    </a:ext>
                  </a:extLst>
                </a:gridCol>
                <a:gridCol w="1347629">
                  <a:extLst>
                    <a:ext uri="{9D8B030D-6E8A-4147-A177-3AD203B41FA5}">
                      <a16:colId xmlns:a16="http://schemas.microsoft.com/office/drawing/2014/main" val="1505181530"/>
                    </a:ext>
                  </a:extLst>
                </a:gridCol>
                <a:gridCol w="3836456">
                  <a:extLst>
                    <a:ext uri="{9D8B030D-6E8A-4147-A177-3AD203B41FA5}">
                      <a16:colId xmlns:a16="http://schemas.microsoft.com/office/drawing/2014/main" val="220354610"/>
                    </a:ext>
                  </a:extLst>
                </a:gridCol>
                <a:gridCol w="2173971">
                  <a:extLst>
                    <a:ext uri="{9D8B030D-6E8A-4147-A177-3AD203B41FA5}">
                      <a16:colId xmlns:a16="http://schemas.microsoft.com/office/drawing/2014/main" val="1238717560"/>
                    </a:ext>
                  </a:extLst>
                </a:gridCol>
                <a:gridCol w="1810633">
                  <a:extLst>
                    <a:ext uri="{9D8B030D-6E8A-4147-A177-3AD203B41FA5}">
                      <a16:colId xmlns:a16="http://schemas.microsoft.com/office/drawing/2014/main" val="742177489"/>
                    </a:ext>
                  </a:extLst>
                </a:gridCol>
              </a:tblGrid>
              <a:tr h="7937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分类 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命名规则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定义规则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标注规则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是否加入参数</a:t>
                      </a:r>
                      <a:endParaRPr lang="en-US" altLang="zh-CN" sz="1800" b="1" dirty="0"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词典</a:t>
                      </a:r>
                      <a:endParaRPr lang="en-US" sz="1800" b="1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93141"/>
                  </a:ext>
                </a:extLst>
              </a:tr>
              <a:tr h="5320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驱动参数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参数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用户可直接修改，驱动模型核心变化。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是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978628"/>
                  </a:ext>
                </a:extLst>
              </a:tr>
              <a:tr h="3214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测量参数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参数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通过</a:t>
                      </a:r>
                      <a:r>
                        <a:rPr lang="en-US" altLang="zh-CN" sz="1400" b="0" dirty="0">
                          <a:effectLst/>
                          <a:latin typeface="quote-cjk-patch"/>
                        </a:rPr>
                        <a:t>NX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测量工具获取的、只读的参数。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依据情况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94294"/>
                  </a:ext>
                </a:extLst>
              </a:tr>
              <a:tr h="6416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分析参数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 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参数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通过公式计算得出的性能指标，用于检查、评估和优化。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依据情况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52317"/>
                  </a:ext>
                </a:extLst>
              </a:tr>
              <a:tr h="6416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检查参数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检查内容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布尔类型，格式必须为 </a:t>
                      </a:r>
                      <a:r>
                        <a:rPr lang="en-US" sz="1400" b="0" dirty="0">
                          <a:effectLst/>
                          <a:latin typeface="Menlo"/>
                        </a:rPr>
                        <a:t>A operator B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，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用于判断设计是否合格。（</a:t>
                      </a:r>
                      <a:r>
                        <a:rPr lang="en-US" altLang="zh-CN" sz="1400" b="0" dirty="0">
                          <a:effectLst/>
                          <a:latin typeface="quote-cjk-patch"/>
                        </a:rPr>
                        <a:t>A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、</a:t>
                      </a:r>
                      <a:r>
                        <a:rPr lang="en-US" altLang="zh-CN" sz="1400" b="0" dirty="0">
                          <a:effectLst/>
                          <a:latin typeface="quote-cjk-patch"/>
                        </a:rPr>
                        <a:t>B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可以引用其他分组参数）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检查类型：几何检查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/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强度检查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是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371701"/>
                  </a:ext>
                </a:extLst>
              </a:tr>
              <a:tr h="6416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外部参数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 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参数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其值来源于外部，如用户输入、数据库查询、其他模型。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来源类型：用户提供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/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检索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SOP/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模型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XX]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是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323066"/>
                  </a:ext>
                </a:extLst>
              </a:tr>
              <a:tr h="5320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内部参数</a:t>
                      </a: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 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参数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常数或由其他参数计算得出的中间变量。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依据情况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917997"/>
                  </a:ext>
                </a:extLst>
              </a:tr>
              <a:tr h="9627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默认值参数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606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DEF_[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参数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ID][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默认优先级级序号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]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为其他参数提供默认值的库。</a:t>
                      </a: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[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开关：</a:t>
                      </a:r>
                      <a:r>
                        <a:rPr lang="en-US" altLang="zh-CN" sz="1400" b="0" dirty="0">
                          <a:effectLst/>
                          <a:latin typeface="Menlo"/>
                        </a:rPr>
                        <a:t>True/False] 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（可以从分析参数中引用）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0505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否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505" marR="36606" marT="19066" marB="190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96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70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0F40-2760-B698-6DE7-1DD9CD53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79F0A-4B1B-AF05-B55A-B8F2BA7D2699}"/>
              </a:ext>
            </a:extLst>
          </p:cNvPr>
          <p:cNvSpPr>
            <a:spLocks noGrp="1"/>
          </p:cNvSpPr>
          <p:nvPr/>
        </p:nvSpPr>
        <p:spPr>
          <a:xfrm>
            <a:off x="549909" y="1105702"/>
            <a:ext cx="5712868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1.2</a:t>
            </a:r>
            <a:r>
              <a:rPr lang="zh-CN" altLang="en-US" dirty="0"/>
              <a:t>、</a:t>
            </a:r>
            <a:r>
              <a:rPr lang="en-US" altLang="zh-CN" dirty="0"/>
              <a:t>NX</a:t>
            </a:r>
            <a:r>
              <a:rPr lang="zh-CN" altLang="en-US" dirty="0"/>
              <a:t>示例</a:t>
            </a:r>
            <a:r>
              <a:rPr lang="en-US" altLang="zh-CN" dirty="0"/>
              <a:t>——</a:t>
            </a:r>
            <a:r>
              <a:rPr lang="zh-CN" altLang="en-US" dirty="0"/>
              <a:t>表达式分组</a:t>
            </a:r>
            <a:endParaRPr lang="zh-CN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1CA99E7-BC1A-2D14-46A7-DC46DE0C5CD3}"/>
              </a:ext>
            </a:extLst>
          </p:cNvPr>
          <p:cNvSpPr>
            <a:spLocks noGrp="1"/>
          </p:cNvSpPr>
          <p:nvPr/>
        </p:nvSpPr>
        <p:spPr>
          <a:xfrm>
            <a:off x="549909" y="75565"/>
            <a:ext cx="3723917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 fontScale="92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一、表达式分类和定义规则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3DBD410-4B4F-E103-F7E9-75EFDC53A257}"/>
              </a:ext>
            </a:extLst>
          </p:cNvPr>
          <p:cNvSpPr>
            <a:spLocks noGrp="1"/>
          </p:cNvSpPr>
          <p:nvPr/>
        </p:nvSpPr>
        <p:spPr>
          <a:xfrm>
            <a:off x="949754" y="1566138"/>
            <a:ext cx="8978405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/>
              <a:t>菜单栏点击→工具→表达式</a:t>
            </a:r>
            <a:endParaRPr lang="zh-CN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D2B836-6E3F-4B3F-9047-68A6BBC38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10" y="2882876"/>
            <a:ext cx="8126579" cy="333264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1B27749-A822-5255-66F3-E10C43FA9ED4}"/>
              </a:ext>
            </a:extLst>
          </p:cNvPr>
          <p:cNvSpPr/>
          <p:nvPr/>
        </p:nvSpPr>
        <p:spPr>
          <a:xfrm flipV="1">
            <a:off x="1106306" y="3960382"/>
            <a:ext cx="3399082" cy="290670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1B7D87A-B568-F717-193B-9603A9A9BF6E}"/>
              </a:ext>
            </a:extLst>
          </p:cNvPr>
          <p:cNvCxnSpPr>
            <a:cxnSpLocks/>
          </p:cNvCxnSpPr>
          <p:nvPr/>
        </p:nvCxnSpPr>
        <p:spPr>
          <a:xfrm flipH="1" flipV="1">
            <a:off x="1314072" y="3390681"/>
            <a:ext cx="1186902" cy="717245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39A02E6-D1FA-DE0A-E6C8-B3A223BD22E9}"/>
              </a:ext>
            </a:extLst>
          </p:cNvPr>
          <p:cNvSpPr txBox="1"/>
          <p:nvPr/>
        </p:nvSpPr>
        <p:spPr>
          <a:xfrm>
            <a:off x="368167" y="2790515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调整为全部显示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F9BE3C-40CE-43CE-14BA-D0E2C3773A0B}"/>
              </a:ext>
            </a:extLst>
          </p:cNvPr>
          <p:cNvSpPr/>
          <p:nvPr/>
        </p:nvSpPr>
        <p:spPr>
          <a:xfrm flipV="1">
            <a:off x="5013196" y="3529982"/>
            <a:ext cx="3399082" cy="290670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8948B31-9D55-EDE1-FFF9-73C1C28D22EC}"/>
              </a:ext>
            </a:extLst>
          </p:cNvPr>
          <p:cNvCxnSpPr>
            <a:cxnSpLocks/>
          </p:cNvCxnSpPr>
          <p:nvPr/>
        </p:nvCxnSpPr>
        <p:spPr>
          <a:xfrm flipV="1">
            <a:off x="5438955" y="2502337"/>
            <a:ext cx="973956" cy="1246966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86C3A46-A178-244F-AAB4-3E3E9DB9CAAE}"/>
              </a:ext>
            </a:extLst>
          </p:cNvPr>
          <p:cNvSpPr txBox="1"/>
          <p:nvPr/>
        </p:nvSpPr>
        <p:spPr>
          <a:xfrm>
            <a:off x="6262777" y="2020445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右键默认组→添加组→依次添加如下命名的组</a:t>
            </a:r>
          </a:p>
        </p:txBody>
      </p:sp>
    </p:spTree>
    <p:extLst>
      <p:ext uri="{BB962C8B-B14F-4D97-AF65-F5344CB8AC3E}">
        <p14:creationId xmlns:p14="http://schemas.microsoft.com/office/powerpoint/2010/main" val="128843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6C3F-EFF5-6D2F-2F19-C3F57732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8518396-10A2-DF06-6F12-393856538E4A}"/>
              </a:ext>
            </a:extLst>
          </p:cNvPr>
          <p:cNvSpPr>
            <a:spLocks noGrp="1"/>
          </p:cNvSpPr>
          <p:nvPr/>
        </p:nvSpPr>
        <p:spPr>
          <a:xfrm>
            <a:off x="549909" y="1105702"/>
            <a:ext cx="5712868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1.2</a:t>
            </a:r>
            <a:r>
              <a:rPr lang="zh-CN" altLang="en-US" dirty="0"/>
              <a:t>、</a:t>
            </a:r>
            <a:r>
              <a:rPr lang="en-US" altLang="zh-CN" dirty="0"/>
              <a:t>NX</a:t>
            </a:r>
            <a:r>
              <a:rPr lang="zh-CN" altLang="en-US" dirty="0"/>
              <a:t>示例</a:t>
            </a:r>
            <a:r>
              <a:rPr lang="en-US" altLang="zh-CN" dirty="0"/>
              <a:t>——</a:t>
            </a:r>
            <a:r>
              <a:rPr lang="zh-CN" altLang="en-US" dirty="0"/>
              <a:t>表达式新建与调整</a:t>
            </a:r>
            <a:endParaRPr lang="zh-CN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2A7A22B7-7D21-3731-797C-3F2F6C24D927}"/>
              </a:ext>
            </a:extLst>
          </p:cNvPr>
          <p:cNvSpPr>
            <a:spLocks noGrp="1"/>
          </p:cNvSpPr>
          <p:nvPr/>
        </p:nvSpPr>
        <p:spPr>
          <a:xfrm>
            <a:off x="549909" y="75565"/>
            <a:ext cx="3723917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 fontScale="92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一、表达式分类和定义规则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157312-C575-E486-7C09-C9DFC842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59" y="2774655"/>
            <a:ext cx="8241711" cy="274594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C377662-D465-7486-0945-F384A2287804}"/>
              </a:ext>
            </a:extLst>
          </p:cNvPr>
          <p:cNvSpPr/>
          <p:nvPr/>
        </p:nvSpPr>
        <p:spPr>
          <a:xfrm flipV="1">
            <a:off x="1192959" y="3856959"/>
            <a:ext cx="1017346" cy="212424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DCE5CE0-2AAC-65F7-5DD8-2B93E68799B3}"/>
              </a:ext>
            </a:extLst>
          </p:cNvPr>
          <p:cNvCxnSpPr>
            <a:cxnSpLocks/>
          </p:cNvCxnSpPr>
          <p:nvPr/>
        </p:nvCxnSpPr>
        <p:spPr>
          <a:xfrm flipH="1" flipV="1">
            <a:off x="1338294" y="2656494"/>
            <a:ext cx="605562" cy="1339113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87A635B-32E6-1366-D963-25457C6097B9}"/>
              </a:ext>
            </a:extLst>
          </p:cNvPr>
          <p:cNvSpPr txBox="1"/>
          <p:nvPr/>
        </p:nvSpPr>
        <p:spPr>
          <a:xfrm>
            <a:off x="326215" y="2357489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右键分组可激活分组、新建表达式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8694D4-0FD7-E2ED-5D68-4FFCBC39D398}"/>
              </a:ext>
            </a:extLst>
          </p:cNvPr>
          <p:cNvSpPr/>
          <p:nvPr/>
        </p:nvSpPr>
        <p:spPr>
          <a:xfrm flipV="1">
            <a:off x="2204249" y="3326196"/>
            <a:ext cx="974957" cy="1118782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8E5D3BC-CDC9-4194-FD46-4AD6805DD763}"/>
              </a:ext>
            </a:extLst>
          </p:cNvPr>
          <p:cNvCxnSpPr>
            <a:cxnSpLocks/>
          </p:cNvCxnSpPr>
          <p:nvPr/>
        </p:nvCxnSpPr>
        <p:spPr>
          <a:xfrm flipV="1">
            <a:off x="2543364" y="2457069"/>
            <a:ext cx="2619564" cy="1538538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16CA9EE-2F3A-F2A9-911F-98DDCF66303A}"/>
              </a:ext>
            </a:extLst>
          </p:cNvPr>
          <p:cNvSpPr txBox="1"/>
          <p:nvPr/>
        </p:nvSpPr>
        <p:spPr>
          <a:xfrm>
            <a:off x="4602498" y="1926306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双击添加公式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6A2FFFC-D6CA-7CD1-A92A-C8071B5F890F}"/>
              </a:ext>
            </a:extLst>
          </p:cNvPr>
          <p:cNvCxnSpPr>
            <a:cxnSpLocks/>
          </p:cNvCxnSpPr>
          <p:nvPr/>
        </p:nvCxnSpPr>
        <p:spPr>
          <a:xfrm flipV="1">
            <a:off x="8124888" y="2774655"/>
            <a:ext cx="2619564" cy="1538538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27C92281-3958-8A67-4AAD-572F00DB80EB}"/>
              </a:ext>
            </a:extLst>
          </p:cNvPr>
          <p:cNvSpPr/>
          <p:nvPr/>
        </p:nvSpPr>
        <p:spPr>
          <a:xfrm flipV="1">
            <a:off x="7310154" y="3326196"/>
            <a:ext cx="974957" cy="1118782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722926-6926-2FC6-78E2-4F4711910350}"/>
              </a:ext>
            </a:extLst>
          </p:cNvPr>
          <p:cNvSpPr txBox="1"/>
          <p:nvPr/>
        </p:nvSpPr>
        <p:spPr>
          <a:xfrm>
            <a:off x="9648636" y="2272403"/>
            <a:ext cx="2496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单击下拉调整分组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9B7DA04-EE69-01FA-54D2-9B64D08F4180}"/>
              </a:ext>
            </a:extLst>
          </p:cNvPr>
          <p:cNvCxnSpPr>
            <a:cxnSpLocks/>
          </p:cNvCxnSpPr>
          <p:nvPr/>
        </p:nvCxnSpPr>
        <p:spPr>
          <a:xfrm flipV="1">
            <a:off x="6578937" y="2533010"/>
            <a:ext cx="500093" cy="1796631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1FEAC00-3B2B-A79F-77BB-4EF9B36815EE}"/>
              </a:ext>
            </a:extLst>
          </p:cNvPr>
          <p:cNvSpPr txBox="1"/>
          <p:nvPr/>
        </p:nvSpPr>
        <p:spPr>
          <a:xfrm>
            <a:off x="6578937" y="2017410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按照要求填写附注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4F36DCA-419B-DE0D-BD79-45C16ABD21E3}"/>
              </a:ext>
            </a:extLst>
          </p:cNvPr>
          <p:cNvCxnSpPr>
            <a:cxnSpLocks/>
          </p:cNvCxnSpPr>
          <p:nvPr/>
        </p:nvCxnSpPr>
        <p:spPr>
          <a:xfrm>
            <a:off x="5656746" y="4377475"/>
            <a:ext cx="503849" cy="2217105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9FE24D20-37B2-2414-0F4A-AABF3AF9CFB6}"/>
              </a:ext>
            </a:extLst>
          </p:cNvPr>
          <p:cNvSpPr/>
          <p:nvPr/>
        </p:nvSpPr>
        <p:spPr>
          <a:xfrm flipV="1">
            <a:off x="5099847" y="4237251"/>
            <a:ext cx="996153" cy="303997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DE3C27D-D786-4B0A-C92A-B110485C6FED}"/>
              </a:ext>
            </a:extLst>
          </p:cNvPr>
          <p:cNvSpPr txBox="1"/>
          <p:nvPr/>
        </p:nvSpPr>
        <p:spPr>
          <a:xfrm>
            <a:off x="6361944" y="6317916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关联驱动尺寸源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761E09-5FF1-1D18-BB59-EABB5CB8895C}"/>
              </a:ext>
            </a:extLst>
          </p:cNvPr>
          <p:cNvSpPr/>
          <p:nvPr/>
        </p:nvSpPr>
        <p:spPr>
          <a:xfrm flipV="1">
            <a:off x="1447547" y="4232554"/>
            <a:ext cx="817367" cy="212424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9722C55-2805-19BF-92B4-7372777BD4F7}"/>
              </a:ext>
            </a:extLst>
          </p:cNvPr>
          <p:cNvCxnSpPr>
            <a:cxnSpLocks/>
            <a:stCxn id="33" idx="0"/>
          </p:cNvCxnSpPr>
          <p:nvPr/>
        </p:nvCxnSpPr>
        <p:spPr>
          <a:xfrm flipH="1">
            <a:off x="838885" y="4444978"/>
            <a:ext cx="1017346" cy="787086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1A4C8E8-7AB5-3310-DA7A-4BDE4BBDB503}"/>
              </a:ext>
            </a:extLst>
          </p:cNvPr>
          <p:cNvSpPr txBox="1"/>
          <p:nvPr/>
        </p:nvSpPr>
        <p:spPr>
          <a:xfrm>
            <a:off x="249510" y="5481264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依据规范定义参数</a:t>
            </a:r>
            <a:r>
              <a:rPr lang="en-US" altLang="zh-CN" dirty="0"/>
              <a:t>ID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B158BD-4501-4039-499F-E0D0E2E47E70}"/>
              </a:ext>
            </a:extLst>
          </p:cNvPr>
          <p:cNvSpPr/>
          <p:nvPr/>
        </p:nvSpPr>
        <p:spPr>
          <a:xfrm flipV="1">
            <a:off x="3696327" y="4212478"/>
            <a:ext cx="996153" cy="303997"/>
          </a:xfrm>
          <a:prstGeom prst="rect">
            <a:avLst/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20000"/>
                </a:schemeClr>
              </a:solidFill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A7D42A8-9D41-D99D-5F15-52DC3C02B7E3}"/>
              </a:ext>
            </a:extLst>
          </p:cNvPr>
          <p:cNvCxnSpPr>
            <a:cxnSpLocks/>
          </p:cNvCxnSpPr>
          <p:nvPr/>
        </p:nvCxnSpPr>
        <p:spPr>
          <a:xfrm>
            <a:off x="3993940" y="4285477"/>
            <a:ext cx="503849" cy="2217105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1D4C1E60-3F19-C7C2-FC5B-C712D5E8B451}"/>
              </a:ext>
            </a:extLst>
          </p:cNvPr>
          <p:cNvSpPr txBox="1"/>
          <p:nvPr/>
        </p:nvSpPr>
        <p:spPr>
          <a:xfrm>
            <a:off x="3835989" y="6449701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采用标准单位</a:t>
            </a:r>
          </a:p>
        </p:txBody>
      </p:sp>
    </p:spTree>
    <p:extLst>
      <p:ext uri="{BB962C8B-B14F-4D97-AF65-F5344CB8AC3E}">
        <p14:creationId xmlns:p14="http://schemas.microsoft.com/office/powerpoint/2010/main" val="164904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500A-58D1-78FC-49D2-4DF8AB163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043C5926-1214-B356-FFAF-57BCD84989FC}"/>
              </a:ext>
            </a:extLst>
          </p:cNvPr>
          <p:cNvSpPr>
            <a:spLocks noGrp="1"/>
          </p:cNvSpPr>
          <p:nvPr/>
        </p:nvSpPr>
        <p:spPr>
          <a:xfrm>
            <a:off x="549909" y="1105702"/>
            <a:ext cx="5712868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1.3</a:t>
            </a:r>
            <a:r>
              <a:rPr lang="zh-CN" altLang="en-US" dirty="0"/>
              <a:t>、</a:t>
            </a:r>
            <a:r>
              <a:rPr lang="en-US" altLang="zh-CN" dirty="0"/>
              <a:t>NX</a:t>
            </a:r>
            <a:r>
              <a:rPr lang="zh-CN" altLang="en-US" dirty="0"/>
              <a:t>示例</a:t>
            </a:r>
            <a:r>
              <a:rPr lang="en-US" altLang="zh-CN" dirty="0"/>
              <a:t>——</a:t>
            </a:r>
            <a:r>
              <a:rPr lang="zh-CN" altLang="en-US" dirty="0"/>
              <a:t>测量参数新增</a:t>
            </a:r>
            <a:endParaRPr lang="zh-CN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818D1B59-7470-03C8-228E-76A872C4FA47}"/>
              </a:ext>
            </a:extLst>
          </p:cNvPr>
          <p:cNvSpPr>
            <a:spLocks noGrp="1"/>
          </p:cNvSpPr>
          <p:nvPr/>
        </p:nvSpPr>
        <p:spPr>
          <a:xfrm>
            <a:off x="549909" y="75565"/>
            <a:ext cx="3723917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 fontScale="92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一、表达式分类和定义规则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7440C4-3322-D1B6-9C40-70929D118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50" y="2942774"/>
            <a:ext cx="5825515" cy="3094805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37ACF5F7-06FB-7681-91FA-01C7632CB6AF}"/>
              </a:ext>
            </a:extLst>
          </p:cNvPr>
          <p:cNvSpPr>
            <a:spLocks noGrp="1"/>
          </p:cNvSpPr>
          <p:nvPr/>
        </p:nvSpPr>
        <p:spPr>
          <a:xfrm>
            <a:off x="949754" y="1566138"/>
            <a:ext cx="8978405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/>
              <a:t>激活测量参数组→使用测量工具对数模进行测量→点击保存图标保存测量参数</a:t>
            </a:r>
            <a:endParaRPr lang="zh-CN" sz="18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4CDFDA7-9E7F-C0A0-5D59-80AAE17F7EC5}"/>
              </a:ext>
            </a:extLst>
          </p:cNvPr>
          <p:cNvCxnSpPr>
            <a:cxnSpLocks/>
          </p:cNvCxnSpPr>
          <p:nvPr/>
        </p:nvCxnSpPr>
        <p:spPr>
          <a:xfrm flipV="1">
            <a:off x="5437955" y="4360053"/>
            <a:ext cx="308837" cy="1241404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62C7E51-03CF-C595-EC66-B404079ECD7C}"/>
              </a:ext>
            </a:extLst>
          </p:cNvPr>
          <p:cNvSpPr txBox="1"/>
          <p:nvPr/>
        </p:nvSpPr>
        <p:spPr>
          <a:xfrm>
            <a:off x="4723611" y="3972911"/>
            <a:ext cx="47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点击保存到表达式中去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A4EB61E-0D57-69B6-4E3A-AA72EE64B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92" y="2627778"/>
            <a:ext cx="6025351" cy="1196833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A0126D1-F15E-2668-222F-BFA000796255}"/>
              </a:ext>
            </a:extLst>
          </p:cNvPr>
          <p:cNvCxnSpPr>
            <a:cxnSpLocks/>
          </p:cNvCxnSpPr>
          <p:nvPr/>
        </p:nvCxnSpPr>
        <p:spPr>
          <a:xfrm flipV="1">
            <a:off x="7309144" y="3627322"/>
            <a:ext cx="2404085" cy="629009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91CF46F-A600-9EDB-B678-31567210B44B}"/>
              </a:ext>
            </a:extLst>
          </p:cNvPr>
          <p:cNvCxnSpPr>
            <a:cxnSpLocks/>
          </p:cNvCxnSpPr>
          <p:nvPr/>
        </p:nvCxnSpPr>
        <p:spPr>
          <a:xfrm flipH="1" flipV="1">
            <a:off x="5171507" y="2824329"/>
            <a:ext cx="1962024" cy="700047"/>
          </a:xfrm>
          <a:prstGeom prst="straightConnector1">
            <a:avLst/>
          </a:prstGeom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CD7191E-86DF-1EB8-4317-C50233124750}"/>
              </a:ext>
            </a:extLst>
          </p:cNvPr>
          <p:cNvSpPr txBox="1"/>
          <p:nvPr/>
        </p:nvSpPr>
        <p:spPr>
          <a:xfrm>
            <a:off x="3883897" y="2591347"/>
            <a:ext cx="1366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激活该组</a:t>
            </a:r>
          </a:p>
        </p:txBody>
      </p:sp>
    </p:spTree>
    <p:extLst>
      <p:ext uri="{BB962C8B-B14F-4D97-AF65-F5344CB8AC3E}">
        <p14:creationId xmlns:p14="http://schemas.microsoft.com/office/powerpoint/2010/main" val="334666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A3F8-928A-FF7A-9205-AEE042D98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DCD99746-21D3-15B5-526B-61DD730DA0CD}"/>
              </a:ext>
            </a:extLst>
          </p:cNvPr>
          <p:cNvSpPr>
            <a:spLocks noGrp="1"/>
          </p:cNvSpPr>
          <p:nvPr/>
        </p:nvSpPr>
        <p:spPr>
          <a:xfrm>
            <a:off x="549909" y="75565"/>
            <a:ext cx="3723917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zh-CN" altLang="en-US" dirty="0">
                <a:latin typeface="quote-cjk-patch"/>
              </a:rPr>
              <a:t>参数词典的定义规则</a:t>
            </a:r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68F421E-80F5-F8F4-A284-1755C3E21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97835"/>
              </p:ext>
            </p:extLst>
          </p:nvPr>
        </p:nvGraphicFramePr>
        <p:xfrm>
          <a:off x="1353287" y="1810633"/>
          <a:ext cx="7742268" cy="4149699"/>
        </p:xfrm>
        <a:graphic>
          <a:graphicData uri="http://schemas.openxmlformats.org/drawingml/2006/table">
            <a:tbl>
              <a:tblPr/>
              <a:tblGrid>
                <a:gridCol w="1935567">
                  <a:extLst>
                    <a:ext uri="{9D8B030D-6E8A-4147-A177-3AD203B41FA5}">
                      <a16:colId xmlns:a16="http://schemas.microsoft.com/office/drawing/2014/main" val="4188054128"/>
                    </a:ext>
                  </a:extLst>
                </a:gridCol>
                <a:gridCol w="1935567">
                  <a:extLst>
                    <a:ext uri="{9D8B030D-6E8A-4147-A177-3AD203B41FA5}">
                      <a16:colId xmlns:a16="http://schemas.microsoft.com/office/drawing/2014/main" val="45458171"/>
                    </a:ext>
                  </a:extLst>
                </a:gridCol>
                <a:gridCol w="1935567">
                  <a:extLst>
                    <a:ext uri="{9D8B030D-6E8A-4147-A177-3AD203B41FA5}">
                      <a16:colId xmlns:a16="http://schemas.microsoft.com/office/drawing/2014/main" val="1939133849"/>
                    </a:ext>
                  </a:extLst>
                </a:gridCol>
                <a:gridCol w="1935567">
                  <a:extLst>
                    <a:ext uri="{9D8B030D-6E8A-4147-A177-3AD203B41FA5}">
                      <a16:colId xmlns:a16="http://schemas.microsoft.com/office/drawing/2014/main" val="1795809554"/>
                    </a:ext>
                  </a:extLst>
                </a:gridCol>
              </a:tblGrid>
              <a:tr h="368909">
                <a:tc gridSpan="4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参数词典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zh-CN" altLang="en-US" sz="1500" b="0" dirty="0">
                        <a:effectLst/>
                        <a:latin typeface="quote-cjk-patch"/>
                      </a:endParaRP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zh-CN" altLang="en-US" sz="1800" b="1" dirty="0">
                        <a:effectLst/>
                        <a:latin typeface="quote-cjk-patch"/>
                      </a:endParaRP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981096"/>
                  </a:ext>
                </a:extLst>
              </a:tr>
              <a:tr h="35619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1">
                          <a:effectLst/>
                          <a:latin typeface="quote-cjk-patch"/>
                        </a:rPr>
                        <a:t>字段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1" dirty="0">
                          <a:effectLst/>
                          <a:latin typeface="quote-cjk-patch"/>
                        </a:rPr>
                        <a:t>用途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1" dirty="0">
                          <a:effectLst/>
                          <a:latin typeface="quote-cjk-patch"/>
                        </a:rPr>
                        <a:t>示例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1" dirty="0">
                          <a:effectLst/>
                          <a:latin typeface="quote-cjk-patch"/>
                        </a:rPr>
                        <a:t>是否必填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053993"/>
                  </a:ext>
                </a:extLst>
              </a:tr>
              <a:tr h="79771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参数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ID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>
                          <a:effectLst/>
                          <a:latin typeface="quote-cjk-patch"/>
                        </a:rPr>
                        <a:t>与</a:t>
                      </a:r>
                      <a:r>
                        <a:rPr lang="en-US" altLang="zh-CN" sz="1500" b="0">
                          <a:effectLst/>
                          <a:latin typeface="quote-cjk-patch"/>
                        </a:rPr>
                        <a:t>NX</a:t>
                      </a:r>
                      <a:r>
                        <a:rPr lang="zh-CN" altLang="en-US" sz="1500" b="0">
                          <a:effectLst/>
                          <a:latin typeface="quote-cjk-patch"/>
                        </a:rPr>
                        <a:t>表达式名称对应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500" b="0" dirty="0" err="1">
                          <a:effectLst/>
                          <a:latin typeface="Menlo"/>
                        </a:rPr>
                        <a:t>QuBingChangDu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是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15430"/>
                  </a:ext>
                </a:extLst>
              </a:tr>
              <a:tr h="5627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标准名称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业务标准称呼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Menlo"/>
                        </a:rPr>
                        <a:t>曲柄长度</a:t>
                      </a:r>
                      <a:endParaRPr lang="zh-CN" altLang="en-US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是</a:t>
                      </a:r>
                      <a:endParaRPr lang="en-US" altLang="zh-CN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01375"/>
                  </a:ext>
                </a:extLst>
              </a:tr>
              <a:tr h="5627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常用别名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>
                          <a:effectLst/>
                          <a:latin typeface="quote-cjk-patch"/>
                        </a:rPr>
                        <a:t>搜索关键词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Menlo"/>
                        </a:rPr>
                        <a:t>主轴长度、主轴长</a:t>
                      </a:r>
                      <a:endParaRPr lang="zh-CN" altLang="en-US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否</a:t>
                      </a:r>
                      <a:endParaRPr lang="en-US" altLang="zh-CN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795966"/>
                  </a:ext>
                </a:extLst>
              </a:tr>
              <a:tr h="5627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易混淆名称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排除易混淆概念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主轴颈长度</a:t>
                      </a: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否</a:t>
                      </a:r>
                      <a:endParaRPr lang="en-US" altLang="zh-CN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95766"/>
                  </a:ext>
                </a:extLst>
              </a:tr>
              <a:tr h="93870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物理意义</a:t>
                      </a:r>
                    </a:p>
                  </a:txBody>
                  <a:tcPr marL="77809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详细业务含义</a:t>
                      </a:r>
                    </a:p>
                  </a:txBody>
                  <a:tcPr marL="64841" marR="64841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Menlo"/>
                        </a:rPr>
                        <a:t>曲轴主轴颈中心到曲柄销中心的距离</a:t>
                      </a:r>
                      <a:endParaRPr lang="zh-CN" altLang="en-US" sz="1500" b="0" dirty="0">
                        <a:effectLst/>
                        <a:latin typeface="quote-cjk-patch"/>
                      </a:endParaRP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500" b="0" dirty="0">
                          <a:effectLst/>
                          <a:latin typeface="quote-cjk-patch"/>
                        </a:rPr>
                        <a:t>否</a:t>
                      </a:r>
                    </a:p>
                  </a:txBody>
                  <a:tcPr marL="64841" marR="77809" marT="40526" marB="40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4109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8327D8E-4371-C964-92CA-B7346007D84E}"/>
              </a:ext>
            </a:extLst>
          </p:cNvPr>
          <p:cNvSpPr>
            <a:spLocks noGrp="1"/>
          </p:cNvSpPr>
          <p:nvPr/>
        </p:nvSpPr>
        <p:spPr>
          <a:xfrm>
            <a:off x="549909" y="1105702"/>
            <a:ext cx="5712868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形成一个</a:t>
            </a:r>
            <a:r>
              <a:rPr lang="en-US" altLang="zh-CN" dirty="0"/>
              <a:t>Excel</a:t>
            </a:r>
            <a:r>
              <a:rPr lang="zh-CN" altLang="en-US" dirty="0"/>
              <a:t>表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26328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B896-A9C5-0606-B032-00540FCF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3F1E3658-1525-293A-E841-49C655E51645}"/>
              </a:ext>
            </a:extLst>
          </p:cNvPr>
          <p:cNvSpPr>
            <a:spLocks noGrp="1"/>
          </p:cNvSpPr>
          <p:nvPr/>
        </p:nvSpPr>
        <p:spPr>
          <a:xfrm>
            <a:off x="549909" y="75565"/>
            <a:ext cx="3723917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zh-CN" altLang="en-US" dirty="0">
                <a:latin typeface="quote-cjk-patch"/>
              </a:rPr>
              <a:t>场景配置表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86AC03-9391-0351-62E1-4121A9045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318857"/>
              </p:ext>
            </p:extLst>
          </p:nvPr>
        </p:nvGraphicFramePr>
        <p:xfrm>
          <a:off x="2106981" y="1903826"/>
          <a:ext cx="8774985" cy="4878609"/>
        </p:xfrm>
        <a:graphic>
          <a:graphicData uri="http://schemas.openxmlformats.org/drawingml/2006/table">
            <a:tbl>
              <a:tblPr/>
              <a:tblGrid>
                <a:gridCol w="2531630">
                  <a:extLst>
                    <a:ext uri="{9D8B030D-6E8A-4147-A177-3AD203B41FA5}">
                      <a16:colId xmlns:a16="http://schemas.microsoft.com/office/drawing/2014/main" val="2001704438"/>
                    </a:ext>
                  </a:extLst>
                </a:gridCol>
                <a:gridCol w="2949092">
                  <a:extLst>
                    <a:ext uri="{9D8B030D-6E8A-4147-A177-3AD203B41FA5}">
                      <a16:colId xmlns:a16="http://schemas.microsoft.com/office/drawing/2014/main" val="968239862"/>
                    </a:ext>
                  </a:extLst>
                </a:gridCol>
                <a:gridCol w="3294263">
                  <a:extLst>
                    <a:ext uri="{9D8B030D-6E8A-4147-A177-3AD203B41FA5}">
                      <a16:colId xmlns:a16="http://schemas.microsoft.com/office/drawing/2014/main" val="921343369"/>
                    </a:ext>
                  </a:extLst>
                </a:gridCol>
              </a:tblGrid>
              <a:tr h="52035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字段 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全新设计场景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强度优化场景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372842"/>
                  </a:ext>
                </a:extLst>
              </a:tr>
              <a:tr h="3274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场景</a:t>
                      </a:r>
                      <a:r>
                        <a:rPr lang="en-US" sz="1400" b="1" dirty="0">
                          <a:effectLst/>
                          <a:latin typeface="quote-cjk-patch"/>
                        </a:rPr>
                        <a:t>ID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SOP_LiangGan_001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  <a:latin typeface="Menlo"/>
                        </a:rPr>
                        <a:t>SOP_LiangGan_002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4471"/>
                  </a:ext>
                </a:extLst>
              </a:tr>
              <a:tr h="5203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目标描述 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根据总体需求，从头开始设计一个新连杆。</a:t>
                      </a: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quote-cjk-patch"/>
                        </a:rPr>
                        <a:t>在现有连杆模型基础上，提升其疲劳强度。</a:t>
                      </a: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350713"/>
                  </a:ext>
                </a:extLst>
              </a:tr>
              <a:tr h="3274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推荐模板参数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当前阶段省略该步骤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当前阶段省略该步骤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346429"/>
                  </a:ext>
                </a:extLst>
              </a:tr>
              <a:tr h="5584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必需驱动参数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LianGanChang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（连杆长）</a:t>
                      </a:r>
                      <a:br>
                        <a:rPr lang="en-US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XiaoTouKongJing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（小头孔径）</a:t>
                      </a:r>
                      <a:br>
                        <a:rPr lang="en-US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DaTouKongJing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（大头孔径）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BiHou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（壁厚）</a:t>
                      </a:r>
                      <a:br>
                        <a:rPr lang="en-US" altLang="zh-CN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BanJianJiao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（板间角）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920341"/>
                  </a:ext>
                </a:extLst>
              </a:tr>
              <a:tr h="5203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可选驱动参数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BiHou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（壁厚）</a:t>
                      </a:r>
                      <a:br>
                        <a:rPr lang="en-US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BanJianJiao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（板间角）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LianJieYuanJing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（连接圆角）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069831"/>
                  </a:ext>
                </a:extLst>
              </a:tr>
              <a:tr h="5203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必需外部参数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FaDongJiXingHao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（发动机型号）</a:t>
                      </a:r>
                      <a:br>
                        <a:rPr lang="en-US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ZuiDaBaoFaYaLi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（最大爆发压力）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XianYouMoxingBanben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（现有模型版本）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31702"/>
                  </a:ext>
                </a:extLst>
              </a:tr>
              <a:tr h="5203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关键分析参数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AnQuanXiShu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（安全系数）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PiLaoShouMing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（疲劳寿命）</a:t>
                      </a:r>
                      <a:br>
                        <a:rPr lang="en-US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ZuiDaYingLi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（最大应力）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92184"/>
                  </a:ext>
                </a:extLst>
              </a:tr>
              <a:tr h="5203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必须检查项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ChangJingBi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（长径比）</a:t>
                      </a:r>
                      <a:br>
                        <a:rPr lang="en-US" sz="1400" b="0" dirty="0">
                          <a:effectLst/>
                          <a:latin typeface="quote-cjk-patch"/>
                        </a:rPr>
                      </a:br>
                      <a:r>
                        <a:rPr lang="en-US" sz="1400" b="0" dirty="0" err="1">
                          <a:effectLst/>
                          <a:latin typeface="Menlo"/>
                        </a:rPr>
                        <a:t>BiHouXiaolv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（壁厚效率）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Menlo"/>
                        </a:rPr>
                        <a:t>YingLiJiZhong</a:t>
                      </a:r>
                      <a:r>
                        <a:rPr lang="zh-CN" altLang="en-US" sz="1400" b="0" dirty="0">
                          <a:effectLst/>
                          <a:latin typeface="Menlo"/>
                        </a:rPr>
                        <a:t>（应力集中系数）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357128"/>
                  </a:ext>
                </a:extLst>
              </a:tr>
              <a:tr h="42389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  <a:latin typeface="quote-cjk-patch"/>
                        </a:rPr>
                        <a:t>默认值是否启用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552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是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0460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  <a:latin typeface="Menlo"/>
                        </a:rPr>
                        <a:t>否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0460" marR="36552" marT="19037" marB="19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437205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2CB344-E127-499D-3B44-AB6350AE5A71}"/>
              </a:ext>
            </a:extLst>
          </p:cNvPr>
          <p:cNvSpPr>
            <a:spLocks noGrp="1"/>
          </p:cNvSpPr>
          <p:nvPr/>
        </p:nvSpPr>
        <p:spPr>
          <a:xfrm>
            <a:off x="549909" y="1105702"/>
            <a:ext cx="10792284" cy="6299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 fontScale="85000" lnSpcReduction="1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0" normalizeH="0" baseline="0">
                <a:solidFill>
                  <a:srgbClr val="021F5B"/>
                </a:solidFill>
                <a:uFillTx/>
                <a:latin typeface="+mj-ea"/>
                <a:ea typeface="+mj-ea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、每个参数化设计场景形成一个</a:t>
            </a:r>
            <a:r>
              <a:rPr lang="en-US" altLang="zh-CN" dirty="0"/>
              <a:t>Excel</a:t>
            </a:r>
            <a:r>
              <a:rPr lang="zh-CN" altLang="en-US" dirty="0"/>
              <a:t>表，仅该表不同的场景可以采用同一参数化设计</a:t>
            </a:r>
            <a:r>
              <a:rPr lang="en-US" altLang="zh-CN" dirty="0"/>
              <a:t>SOP</a:t>
            </a:r>
            <a:r>
              <a:rPr lang="zh-CN" altLang="en-US" dirty="0"/>
              <a:t>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446438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城市的夜景&#10;&#10;中度可信度描述已自动生成"/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0"/>
            <a:ext cx="12193252" cy="2775700"/>
          </a:xfrm>
          <a:prstGeom prst="rect">
            <a:avLst/>
          </a:prstGeom>
        </p:spPr>
      </p:pic>
      <p:pic>
        <p:nvPicPr>
          <p:cNvPr id="5" name="图片 4" descr="城市里有灯光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770428"/>
            <a:ext cx="12192001" cy="4087572"/>
          </a:xfrm>
          <a:prstGeom prst="rect">
            <a:avLst/>
          </a:prstGeom>
        </p:spPr>
      </p:pic>
      <p:sp>
        <p:nvSpPr>
          <p:cNvPr id="6" name="gaoding-8"/>
          <p:cNvSpPr/>
          <p:nvPr/>
        </p:nvSpPr>
        <p:spPr>
          <a:xfrm>
            <a:off x="7006" y="1060"/>
            <a:ext cx="12192000" cy="2741159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M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627190" y="1655611"/>
            <a:ext cx="6674758" cy="705600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sz="4000" spc="0" dirty="0">
                <a:solidFill>
                  <a:srgbClr val="0177D9"/>
                </a:solidFill>
              </a:rPr>
              <a:t>谢谢观看！</a:t>
            </a:r>
          </a:p>
        </p:txBody>
      </p:sp>
      <p:sp>
        <p:nvSpPr>
          <p:cNvPr id="2" name="gaoding-3"/>
          <p:cNvSpPr/>
          <p:nvPr/>
        </p:nvSpPr>
        <p:spPr>
          <a:xfrm>
            <a:off x="0" y="2775700"/>
            <a:ext cx="12192000" cy="4082300"/>
          </a:xfrm>
          <a:prstGeom prst="rect">
            <a:avLst/>
          </a:prstGeom>
          <a:solidFill>
            <a:srgbClr val="0177D9">
              <a:alpha val="5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7189" y="2714011"/>
            <a:ext cx="553068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0" b="1" dirty="0">
                <a:ln w="38100">
                  <a:solidFill>
                    <a:schemeClr val="bg1">
                      <a:alpha val="50000"/>
                    </a:schemeClr>
                  </a:solidFill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kumimoji="1" lang="zh-CN" altLang="en-US" sz="10000" b="1" dirty="0">
              <a:ln w="38100">
                <a:solidFill>
                  <a:schemeClr val="bg1">
                    <a:alpha val="50000"/>
                  </a:schemeClr>
                </a:solidFill>
              </a:ln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占位符 3"/>
          <p:cNvSpPr>
            <a:spLocks noGrp="1"/>
          </p:cNvSpPr>
          <p:nvPr/>
        </p:nvSpPr>
        <p:spPr>
          <a:xfrm>
            <a:off x="627189" y="6040543"/>
            <a:ext cx="6326269" cy="6080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zh-CN" alt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广西星网智云科技有限公司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algn="l"/>
            <a:r>
              <a:rPr lang="en-GB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Guangxi SKY Cloud Technology Co.</a:t>
            </a:r>
            <a:r>
              <a:rPr lang="zh-CN" altLang="en-GB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GB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LTD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iṥ1iḋe"/>
          <p:cNvSpPr/>
          <p:nvPr/>
        </p:nvSpPr>
        <p:spPr>
          <a:xfrm rot="5400000">
            <a:off x="6039582" y="-3381989"/>
            <a:ext cx="112833" cy="12192000"/>
          </a:xfrm>
          <a:prstGeom prst="rect">
            <a:avLst/>
          </a:prstGeom>
          <a:gradFill flip="none" rotWithShape="1">
            <a:gsLst>
              <a:gs pos="53000">
                <a:srgbClr val="0652BE"/>
              </a:gs>
              <a:gs pos="0">
                <a:srgbClr val="015ACD">
                  <a:shade val="67500"/>
                  <a:satMod val="115000"/>
                </a:srgbClr>
              </a:gs>
              <a:gs pos="100000">
                <a:srgbClr val="097CEA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pic>
        <p:nvPicPr>
          <p:cNvPr id="20" name="图片 19" descr="文本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47" y="226800"/>
            <a:ext cx="1545152" cy="31680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TEMPLATE_OPEN_ONCE_MARK" val="1"/>
  <p:tag name="KSO_WPP_MARK_KEY" val="8339f659-9b81-40f8-94ed-1b51a06120aa"/>
  <p:tag name="COMMONDATA" val="eyJjb3VudCI6MTMsImhkaWQiOiIwMTQxOTE3OTBhYzI2Y2VkODAyMjkyMWNhMzZlODM2ZSIsInVzZXJDb3VudCI6MX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dbff48afde5e77c36887bf0aa7f03ef1fdfa210"/>
  <p:tag name="KSO_WM_NEWLAYOUT_GROUP_ID" val="layout_6"/>
  <p:tag name="KSO_WM_NEWLAYOUT_ID" val="slide_82e1f1fbf520933b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思源黑体 CN Normal"/>
        <a:font script="Hebr" typeface="思源黑体 CN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思源黑体 CN Normal"/>
        <a:font script="Hebr" typeface="思源黑体 CN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6298</TotalTime>
  <Words>675</Words>
  <Application>Microsoft Office PowerPoint</Application>
  <PresentationFormat>宽屏</PresentationFormat>
  <Paragraphs>132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HELVETICA BOLD OBLIQUE</vt:lpstr>
      <vt:lpstr>Menlo</vt:lpstr>
      <vt:lpstr>quote-cjk-patch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user</dc:creator>
  <cp:lastModifiedBy>博强 梁</cp:lastModifiedBy>
  <cp:revision>232</cp:revision>
  <dcterms:created xsi:type="dcterms:W3CDTF">2025-01-22T06:20:00Z</dcterms:created>
  <dcterms:modified xsi:type="dcterms:W3CDTF">2025-11-20T07:53:24Z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4CCECF8D01844F5C849651D7322B2BCC_13</vt:lpwstr>
  </property>
  <property fmtid="{D5CDD505-2E9C-101B-9397-08002B2CF9AE}" pid="4" name="KSOTemplateUUID">
    <vt:lpwstr>v1.0_mb_YPkY7BNWwMyb+SDyLjnU3w==</vt:lpwstr>
  </property>
</Properties>
</file>